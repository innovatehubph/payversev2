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4ED9-BC7D-56AD-5952-2F7D1D917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51747-D719-4E51-8733-A6D531858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4F6C6-C273-F8DC-BBF5-AA175E5E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0185F-0643-8D85-CA50-EC523894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5E03C-6338-81B8-31C6-BB829F09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33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7992-7231-3B86-BE2B-738850F2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C45FD-8F4B-71A3-DD30-694962C1F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77EFB-3ADF-027F-0B0E-069DBFE3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B912-A84E-5235-F52F-12D57973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4666-07BA-2B14-47AB-8BBD0CD5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7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1699-50FF-786A-129D-A52FA6FF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BAB64-4396-3477-3B48-FAFEDE05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BAAE1-D3D6-BA0C-C223-5B5B078D2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1E995-ADF7-637D-48D3-21A1AD5C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70321-7C70-361B-D42C-7444135F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3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DD4A-69BB-8694-9592-6537B5A4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E651-E9B9-7F9B-88B9-14319FDCD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CCAE7-EEA5-43E3-CB4D-53D5B2B6F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AEF38-9B36-A50E-112C-92A05AA3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E24D8-D1FA-1FE3-8843-0329C03A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75D15-4CF3-9E27-3A0C-61A5D8FC8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1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846B-05AF-71D7-7209-99E9625D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D3651-6231-E65F-0509-3B805897F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058C3-1DE8-945B-978B-E075EBB27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41357-D407-FA92-A347-74B200439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DA11D-F51B-C18C-A7A5-ECA261F2D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A17FB-9FF4-0D73-E48F-7AD88CA5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B3EDC-F5A1-D7E2-DB3B-E8B87EDC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C25A7-9179-ECF9-E953-EB162134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9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E5C46-0CE3-8AC6-8809-F8CF62F5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5D050-6BF9-48D7-CFAF-1C241444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439B6-CD15-ECBE-9BC6-CA4A2D90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0A4B0-DBFF-4EEA-ABC4-E15279E3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9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6E161-B2AE-C948-1E3B-72F03B34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BA54E-F5E1-7319-EED1-B4D4F75D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D40D4-D334-5911-CC47-909FD136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4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200B-CBBD-C5ED-6882-6011C8CF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6D7AA-DC55-318E-42E8-DE9745F2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DDB2C-02B0-9186-41D0-D2B6F7EB3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8A60B-854B-9F2F-B04C-219E7462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3840C-25D7-25E4-057A-A50120E6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FEFE0-5CAC-6D55-DE52-2FE85DD2E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0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BBDD-AC8F-698E-DC9B-B9537BE7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9D95F-B014-9469-7B80-7EE7E5AD7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159DD-3CEB-6C52-8FAD-4189DBBDF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3B819-2840-9748-C274-63D1B7CE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45119-59B5-03CE-6DAD-15C9F060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67A73-080C-EDC8-F206-32F2A891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1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E7C8-D92B-D029-F2E4-2D4895C7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16909-3163-5769-48DA-FDDDAAE94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A0E34-59B3-A637-5A64-9C627512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78AF6-56A3-C780-7248-9CD68720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74910-1223-7FC5-645D-77E1F2B9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8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26721-8B57-46F8-63C4-3C21EDF0A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03CEF-A1F7-2D6C-29DD-00D1EDFCF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9D403-697B-B32A-89CD-18970C58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5DCCB-F886-8683-C8D7-66372B90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593C4-1AF5-CA10-EC90-6857CB4D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9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141B5-EF50-2290-B634-34F77240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FCCE4-5E76-0C14-5D6C-640887354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36FD-5409-C975-3755-3657113A2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67515-5804-43F4-B0AF-3FC1E36800E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E2CB2-6143-8D6F-01A1-59112549E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C5429-05B7-63CF-9045-F042B21CB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98CFE-1D5B-4E21-B23C-7181D31D8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2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73DDAA-9C6B-3CF8-04EA-3791D6E0FB85}"/>
              </a:ext>
            </a:extLst>
          </p:cNvPr>
          <p:cNvSpPr txBox="1"/>
          <p:nvPr/>
        </p:nvSpPr>
        <p:spPr>
          <a:xfrm>
            <a:off x="143434" y="150002"/>
            <a:ext cx="292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SEND MONEY -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C3DC0-C4D9-D57D-56B2-D7A5F23868C8}"/>
              </a:ext>
            </a:extLst>
          </p:cNvPr>
          <p:cNvSpPr txBox="1"/>
          <p:nvPr/>
        </p:nvSpPr>
        <p:spPr>
          <a:xfrm>
            <a:off x="143434" y="519334"/>
            <a:ext cx="10434919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Sending money from one account to another is functioning as intended. Funds are credited instantly to the intended recipient without any issues.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5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However, when searching for a recipient, typing a keyword (e.g., “</a:t>
            </a:r>
            <a:r>
              <a:rPr lang="en-US" sz="15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payverse</a:t>
            </a:r>
            <a:r>
              <a:rPr lang="en-US" sz="15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”) displays all accounts containing that keyword. This may compromise user privacy by exposing other users’ accounts.</a:t>
            </a:r>
            <a:endParaRPr lang="en-US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>
              <a:buNone/>
            </a:pPr>
            <a:r>
              <a:rPr lang="en-US" sz="15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To address this, I recommend tagging each account with a unique account number or requiring the use of the registered mobile number or username when searching for a recipient. This approach ensures that only the intended beneficiary’s account is displayed.</a:t>
            </a:r>
            <a:endParaRPr lang="en-US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>
              <a:buNone/>
            </a:pPr>
            <a:r>
              <a:rPr lang="en-US" sz="15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This same method is already implemented by </a:t>
            </a:r>
            <a:r>
              <a:rPr lang="en-US" sz="15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GCash</a:t>
            </a:r>
            <a:r>
              <a:rPr lang="en-US" sz="1500" dirty="0"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and Maya, where transfers require the exact mobile number of the recipient.</a:t>
            </a:r>
            <a:endParaRPr lang="en-US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1A74B8-89AF-65E7-FE8F-72216703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579" y="2880667"/>
            <a:ext cx="5708628" cy="34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3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5745-CAA6-9439-2E2B-86E715DB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6547B6-1746-55CA-1291-8C09584091AE}"/>
              </a:ext>
            </a:extLst>
          </p:cNvPr>
          <p:cNvSpPr txBox="1"/>
          <p:nvPr/>
        </p:nvSpPr>
        <p:spPr>
          <a:xfrm>
            <a:off x="143434" y="150002"/>
            <a:ext cx="292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SEND MONEY -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68EDA8-352A-E2B7-5EF0-3F7BF5BD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21" y="2279457"/>
            <a:ext cx="3374031" cy="39874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785774-B271-52D0-3ED5-039C32289C8C}"/>
              </a:ext>
            </a:extLst>
          </p:cNvPr>
          <p:cNvSpPr txBox="1"/>
          <p:nvPr/>
        </p:nvSpPr>
        <p:spPr>
          <a:xfrm>
            <a:off x="146535" y="985499"/>
            <a:ext cx="115792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After selecting the intended recipient and entering the transfer amount, it is recommended to include a confirmation page before proceeding with the actual transaction. This will allow users to review and validate all transaction details—such as the recipient information and amount—prior to final submission, thereby 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76FB10-C90F-9F9D-7EE9-232ABE91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139" y="3227294"/>
            <a:ext cx="3032693" cy="20284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210778-3520-51A7-B43C-96CC20A3BC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350" y="2350355"/>
            <a:ext cx="1776132" cy="3946960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CCE4A122-2681-CDA9-0C23-216EA9B889A7}"/>
              </a:ext>
            </a:extLst>
          </p:cNvPr>
          <p:cNvSpPr/>
          <p:nvPr/>
        </p:nvSpPr>
        <p:spPr>
          <a:xfrm>
            <a:off x="4105835" y="4204447"/>
            <a:ext cx="959224" cy="3675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2F2F0D1-C890-3369-21B4-C292D24ACD5A}"/>
              </a:ext>
            </a:extLst>
          </p:cNvPr>
          <p:cNvSpPr/>
          <p:nvPr/>
        </p:nvSpPr>
        <p:spPr>
          <a:xfrm>
            <a:off x="7566212" y="4273202"/>
            <a:ext cx="959224" cy="3675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5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AD2FE-9872-F5DF-0BA2-F60B6DCC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5DCC75-78F2-EA23-8624-2844C20A67E5}"/>
              </a:ext>
            </a:extLst>
          </p:cNvPr>
          <p:cNvSpPr txBox="1"/>
          <p:nvPr/>
        </p:nvSpPr>
        <p:spPr>
          <a:xfrm>
            <a:off x="143434" y="150002"/>
            <a:ext cx="450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TOP-UP via TELEGRAM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B306A-FC85-666C-8283-7AC9FF68099D}"/>
              </a:ext>
            </a:extLst>
          </p:cNvPr>
          <p:cNvSpPr txBox="1"/>
          <p:nvPr/>
        </p:nvSpPr>
        <p:spPr>
          <a:xfrm>
            <a:off x="215151" y="1349002"/>
            <a:ext cx="117527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T</a:t>
            </a: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op-up via Telegram is functioning as intended. Once the top-up is successful, the </a:t>
            </a:r>
            <a:r>
              <a:rPr lang="en-US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PayGram</a:t>
            </a: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Bot automatically notifies the user of the updated account balance. The </a:t>
            </a:r>
            <a:r>
              <a:rPr lang="en-US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Payverse</a:t>
            </a: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wallet is credited accordingly, while the </a:t>
            </a:r>
            <a:r>
              <a:rPr lang="en-US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PayGram</a:t>
            </a:r>
            <a:r>
              <a:rPr lang="en-US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account is debited.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33A711-E016-0A2A-F045-4C17BA56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16" y="3012730"/>
            <a:ext cx="7006083" cy="30135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937653-B255-049C-AAAD-83D2DA233C96}"/>
              </a:ext>
            </a:extLst>
          </p:cNvPr>
          <p:cNvSpPr txBox="1"/>
          <p:nvPr/>
        </p:nvSpPr>
        <p:spPr>
          <a:xfrm>
            <a:off x="215151" y="2248110"/>
            <a:ext cx="11896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2. However, upon reviewing the Transaction History, the transaction is reflected as “Transfer” instead of “Top-up,” which may cause confusion and should be corrected for proper transaction classification and user clarity.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24C46D-D825-9849-FD84-B22014FEA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779" y="149757"/>
            <a:ext cx="3205723" cy="66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3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E690-E294-5A58-0DE5-85F4803B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1ECBBE-E30A-03D2-9770-B13D42EF0DE3}"/>
              </a:ext>
            </a:extLst>
          </p:cNvPr>
          <p:cNvSpPr txBox="1"/>
          <p:nvPr/>
        </p:nvSpPr>
        <p:spPr>
          <a:xfrm>
            <a:off x="143434" y="150002"/>
            <a:ext cx="450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TOP-UP via QRPH (Maya &amp; </a:t>
            </a:r>
            <a:r>
              <a:rPr lang="en-US" b="1" dirty="0" err="1"/>
              <a:t>Gcash</a:t>
            </a:r>
            <a:r>
              <a:rPr lang="en-US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45DB4-612F-505D-7B7A-97ED0FBF9CCA}"/>
              </a:ext>
            </a:extLst>
          </p:cNvPr>
          <p:cNvSpPr txBox="1"/>
          <p:nvPr/>
        </p:nvSpPr>
        <p:spPr>
          <a:xfrm>
            <a:off x="215151" y="1349002"/>
            <a:ext cx="117527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Bug: </a:t>
            </a: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the first attempt to top up using QRPH, after entering the amount (e.g., ₱100) and generating the QR code, the system immediately proceeds to a “Successful Top-up” screen—even without completing or confirming the payment. As a result, the ₱100 amount is instantly credited to the account despite no actual payment action being taken.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E46B7-0BA9-731A-8E05-2FE598ACD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721" y="72482"/>
            <a:ext cx="3631268" cy="759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BF91C4-D5CC-C700-CC60-9249163BB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51" y="2980512"/>
            <a:ext cx="11888928" cy="3169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8C23AF-A464-AAD1-D148-C2543B75046D}"/>
              </a:ext>
            </a:extLst>
          </p:cNvPr>
          <p:cNvSpPr txBox="1"/>
          <p:nvPr/>
        </p:nvSpPr>
        <p:spPr>
          <a:xfrm>
            <a:off x="215151" y="2404919"/>
            <a:ext cx="114479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Transaction History</a:t>
            </a:r>
            <a:r>
              <a:rPr lang="en-US" sz="1600" dirty="0"/>
              <a:t> also reflects </a:t>
            </a:r>
            <a:r>
              <a:rPr lang="en-US" sz="1600" b="1" dirty="0"/>
              <a:t>multiple transaction entries</a:t>
            </a:r>
            <a:r>
              <a:rPr lang="en-US" sz="1600" dirty="0"/>
              <a:t>, including one </a:t>
            </a:r>
            <a:r>
              <a:rPr lang="en-US" sz="1600" b="1" dirty="0"/>
              <a:t>successful ₱100 QRPH cash-in</a:t>
            </a:r>
            <a:r>
              <a:rPr lang="en-US" sz="1600" dirty="0"/>
              <a:t>, despite the top-up process not being properly completed.</a:t>
            </a:r>
          </a:p>
        </p:txBody>
      </p:sp>
    </p:spTree>
    <p:extLst>
      <p:ext uri="{BB962C8B-B14F-4D97-AF65-F5344CB8AC3E}">
        <p14:creationId xmlns:p14="http://schemas.microsoft.com/office/powerpoint/2010/main" val="183185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047A-B2B5-4349-A6A5-9BF21A42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E7615A-AB3E-59F7-AF61-E4D38AC2F86F}"/>
              </a:ext>
            </a:extLst>
          </p:cNvPr>
          <p:cNvSpPr txBox="1"/>
          <p:nvPr/>
        </p:nvSpPr>
        <p:spPr>
          <a:xfrm>
            <a:off x="143434" y="150002"/>
            <a:ext cx="450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TOP-UP via QRPH (Maya &amp; </a:t>
            </a:r>
            <a:r>
              <a:rPr lang="en-US" b="1" dirty="0" err="1"/>
              <a:t>Gcash</a:t>
            </a:r>
            <a:r>
              <a:rPr lang="en-US" b="1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CDEA58-DCF5-2D38-90C4-5C56F13F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721" y="72482"/>
            <a:ext cx="3631268" cy="7592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3D2180-00BD-C501-B922-64213EF160F3}"/>
              </a:ext>
            </a:extLst>
          </p:cNvPr>
          <p:cNvSpPr txBox="1"/>
          <p:nvPr/>
        </p:nvSpPr>
        <p:spPr>
          <a:xfrm>
            <a:off x="0" y="1097329"/>
            <a:ext cx="11788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3. On the second attempt, the process appears to work as expected. The system did not automatically proceed to a successful transaction on its own. After scanning the generated QR code using </a:t>
            </a:r>
            <a:r>
              <a:rPr lang="en-US" sz="1600" dirty="0" err="1"/>
              <a:t>GCash</a:t>
            </a:r>
            <a:r>
              <a:rPr lang="en-US" sz="1600" dirty="0"/>
              <a:t>, all transaction details were displayed correctly.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94234-07D1-4096-B85C-16936F16C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03" y="2043953"/>
            <a:ext cx="1853819" cy="41195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414B2A-9E3A-2EDC-1EA2-DB3248FAF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191" y="2176026"/>
            <a:ext cx="1853818" cy="411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23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C154C-DC66-ACEC-A13C-4404434E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FF153A-6D65-70AD-A70C-FF9849322472}"/>
              </a:ext>
            </a:extLst>
          </p:cNvPr>
          <p:cNvSpPr txBox="1"/>
          <p:nvPr/>
        </p:nvSpPr>
        <p:spPr>
          <a:xfrm>
            <a:off x="143434" y="150002"/>
            <a:ext cx="450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CASH-OUT via Telegram wallet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F7F6B0-F33E-D94C-2D10-636360ADB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852" y="150003"/>
            <a:ext cx="3803277" cy="821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CC1CEA-A913-75CD-9E69-E47622688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23" y="1954783"/>
            <a:ext cx="8767482" cy="4279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5719EF-7A77-CD69-34E8-11D1FCBE1C52}"/>
              </a:ext>
            </a:extLst>
          </p:cNvPr>
          <p:cNvSpPr txBox="1"/>
          <p:nvPr/>
        </p:nvSpPr>
        <p:spPr>
          <a:xfrm>
            <a:off x="481852" y="12137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Error on first attempt to cash-out or withdraw via Telegram</a:t>
            </a:r>
          </a:p>
        </p:txBody>
      </p:sp>
    </p:spTree>
    <p:extLst>
      <p:ext uri="{BB962C8B-B14F-4D97-AF65-F5344CB8AC3E}">
        <p14:creationId xmlns:p14="http://schemas.microsoft.com/office/powerpoint/2010/main" val="417756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D577-B40F-7F80-420C-69BFEDD6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4D1D39-7DE8-C0C0-1D69-3A63FB751025}"/>
              </a:ext>
            </a:extLst>
          </p:cNvPr>
          <p:cNvSpPr txBox="1"/>
          <p:nvPr/>
        </p:nvSpPr>
        <p:spPr>
          <a:xfrm>
            <a:off x="143434" y="150002"/>
            <a:ext cx="450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CASH-OUT via </a:t>
            </a:r>
            <a:r>
              <a:rPr lang="en-US" b="1" dirty="0" err="1"/>
              <a:t>eWallet</a:t>
            </a:r>
            <a:r>
              <a:rPr lang="en-US" b="1" dirty="0"/>
              <a:t> /  Bank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FC446-2E83-399F-2215-EBD6E0412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48" y="1541930"/>
            <a:ext cx="1684076" cy="1825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69D0C7-53B9-B6BC-C353-AE8A17B9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535" y="74721"/>
            <a:ext cx="3863749" cy="8892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43CF75-AEB3-01A3-1864-5D2C53F8BED9}"/>
              </a:ext>
            </a:extLst>
          </p:cNvPr>
          <p:cNvSpPr txBox="1"/>
          <p:nvPr/>
        </p:nvSpPr>
        <p:spPr>
          <a:xfrm>
            <a:off x="251011" y="850777"/>
            <a:ext cx="10811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First Attempt:</a:t>
            </a:r>
            <a:r>
              <a:rPr lang="en-US" sz="1600" dirty="0"/>
              <a:t> After entering all required information, the next page unexpectedly redirects to the </a:t>
            </a:r>
            <a:r>
              <a:rPr lang="en-US" sz="1600" b="1" dirty="0"/>
              <a:t>dashboard</a:t>
            </a:r>
            <a:r>
              <a:rPr lang="en-US" sz="1600" dirty="0"/>
              <a:t>, with a small pop-up stating: </a:t>
            </a:r>
            <a:r>
              <a:rPr lang="en-US" sz="1600" b="1" dirty="0"/>
              <a:t>“Cash-out is being sent to your </a:t>
            </a:r>
            <a:r>
              <a:rPr lang="en-US" sz="1600" b="1" dirty="0" err="1"/>
              <a:t>GCash</a:t>
            </a:r>
            <a:r>
              <a:rPr lang="en-US" sz="1600" b="1" dirty="0"/>
              <a:t>.”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E6D44D-F268-860E-B691-C5B6323FC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957" y="1592998"/>
            <a:ext cx="3733800" cy="154305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E0C46659-907D-D67F-12B6-7DE9D598F15F}"/>
              </a:ext>
            </a:extLst>
          </p:cNvPr>
          <p:cNvSpPr/>
          <p:nvPr/>
        </p:nvSpPr>
        <p:spPr>
          <a:xfrm>
            <a:off x="2630020" y="2275414"/>
            <a:ext cx="726141" cy="358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1B923-6D8F-E27A-07F1-F7A82A64A80F}"/>
              </a:ext>
            </a:extLst>
          </p:cNvPr>
          <p:cNvSpPr txBox="1"/>
          <p:nvPr/>
        </p:nvSpPr>
        <p:spPr>
          <a:xfrm>
            <a:off x="143434" y="3581299"/>
            <a:ext cx="113134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2. I recommended to include a confirmation page after entering all withdrawal details, allowing the user to review and validate the information before submission. Following confirmation, a dedicated status page should display a message such as: “Withdrawal is being processed and sent to your account” to clearly indicate that the transaction is in progress.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DBB518-0F67-5122-0E24-14861BC97DC9}"/>
              </a:ext>
            </a:extLst>
          </p:cNvPr>
          <p:cNvSpPr txBox="1"/>
          <p:nvPr/>
        </p:nvSpPr>
        <p:spPr>
          <a:xfrm>
            <a:off x="251011" y="4451350"/>
            <a:ext cx="11089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Successful Transaction:</a:t>
            </a:r>
            <a:r>
              <a:rPr lang="en-US" sz="1600" dirty="0"/>
              <a:t> The transaction was successfully credited to my </a:t>
            </a:r>
            <a:r>
              <a:rPr lang="en-US" sz="1600" b="1" dirty="0" err="1"/>
              <a:t>GCash</a:t>
            </a:r>
            <a:r>
              <a:rPr lang="en-US" sz="1600" b="1" dirty="0"/>
              <a:t> account instantly</a:t>
            </a:r>
            <a:r>
              <a:rPr lang="en-US" sz="1600" dirty="0"/>
              <a:t>. Please see the screenshot below for reference.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90DCECB-AB3D-FF65-3F5D-137F4956B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390" y="4857547"/>
            <a:ext cx="2072656" cy="181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86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5EBF-5AA2-2A92-E020-E5AA6BB0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03E188-E9BC-78FA-6FBE-FAA01B3F52F4}"/>
              </a:ext>
            </a:extLst>
          </p:cNvPr>
          <p:cNvSpPr txBox="1"/>
          <p:nvPr/>
        </p:nvSpPr>
        <p:spPr>
          <a:xfrm>
            <a:off x="143434" y="150002"/>
            <a:ext cx="450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CASH-OUT via </a:t>
            </a:r>
            <a:r>
              <a:rPr lang="en-US" b="1" dirty="0" err="1"/>
              <a:t>eWallet</a:t>
            </a:r>
            <a:r>
              <a:rPr lang="en-US" b="1" dirty="0"/>
              <a:t> /  Bank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63E426-B17D-DB1D-7DEE-1A4AB8EF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48" y="1541930"/>
            <a:ext cx="1684076" cy="1825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A22C5F-4ED6-D19B-41DA-9E1B0F307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535" y="74721"/>
            <a:ext cx="3863749" cy="8892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AE4725-923E-6BDF-C22D-088D33A7C1FE}"/>
              </a:ext>
            </a:extLst>
          </p:cNvPr>
          <p:cNvSpPr txBox="1"/>
          <p:nvPr/>
        </p:nvSpPr>
        <p:spPr>
          <a:xfrm>
            <a:off x="251011" y="850777"/>
            <a:ext cx="10811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First Attempt:</a:t>
            </a:r>
            <a:r>
              <a:rPr lang="en-US" sz="1600" dirty="0"/>
              <a:t> After entering all required information, the next page redirects to the </a:t>
            </a:r>
            <a:r>
              <a:rPr lang="en-US" sz="1600" b="1" dirty="0"/>
              <a:t>dashboard</a:t>
            </a:r>
            <a:r>
              <a:rPr lang="en-US" sz="1600" dirty="0"/>
              <a:t>, with a small pop-up stating: </a:t>
            </a:r>
            <a:r>
              <a:rPr lang="en-US" sz="1600" b="1" dirty="0"/>
              <a:t>“Cash-out is being sent to your </a:t>
            </a:r>
            <a:r>
              <a:rPr lang="en-US" sz="1600" b="1" dirty="0" err="1"/>
              <a:t>GCash</a:t>
            </a:r>
            <a:r>
              <a:rPr lang="en-US" sz="1600" b="1" dirty="0"/>
              <a:t>.”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9BB336-027A-9DD2-FA4E-348EF4D9F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957" y="1592998"/>
            <a:ext cx="3733800" cy="154305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EDB2AFE7-EB8E-1F84-4EA5-ED6403EF51DD}"/>
              </a:ext>
            </a:extLst>
          </p:cNvPr>
          <p:cNvSpPr/>
          <p:nvPr/>
        </p:nvSpPr>
        <p:spPr>
          <a:xfrm>
            <a:off x="2630020" y="2275414"/>
            <a:ext cx="726141" cy="358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A1B795-B7D8-F289-685A-0A0A194AB4A2}"/>
              </a:ext>
            </a:extLst>
          </p:cNvPr>
          <p:cNvSpPr txBox="1"/>
          <p:nvPr/>
        </p:nvSpPr>
        <p:spPr>
          <a:xfrm>
            <a:off x="143434" y="3584377"/>
            <a:ext cx="11089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Successful Transaction:</a:t>
            </a:r>
            <a:r>
              <a:rPr lang="en-US" sz="1600" dirty="0"/>
              <a:t> The transaction was successfully credited to my </a:t>
            </a:r>
            <a:r>
              <a:rPr lang="en-US" sz="1600" b="1" dirty="0" err="1"/>
              <a:t>GCash</a:t>
            </a:r>
            <a:r>
              <a:rPr lang="en-US" sz="1600" b="1" dirty="0"/>
              <a:t> and Maya accounts  instantly</a:t>
            </a:r>
            <a:r>
              <a:rPr lang="en-US" sz="1600" dirty="0"/>
              <a:t>. Please see the screenshot below for reference.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2DE7AB-AE5C-F845-4B51-6BA4ABE2B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813" y="3990574"/>
            <a:ext cx="2072656" cy="1814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DA6B8-F714-A23B-BC6A-BB5BE3172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894" y="4492620"/>
            <a:ext cx="3356586" cy="1083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D1BEA6-3A3C-A326-0518-193612F63475}"/>
              </a:ext>
            </a:extLst>
          </p:cNvPr>
          <p:cNvSpPr txBox="1"/>
          <p:nvPr/>
        </p:nvSpPr>
        <p:spPr>
          <a:xfrm>
            <a:off x="251011" y="6128552"/>
            <a:ext cx="111472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</a:t>
            </a:r>
            <a:r>
              <a:rPr lang="en-US" sz="1600" dirty="0"/>
              <a:t>. I recommend including a </a:t>
            </a:r>
            <a:r>
              <a:rPr lang="en-US" sz="1600" b="1" dirty="0"/>
              <a:t>confirmation page</a:t>
            </a:r>
            <a:r>
              <a:rPr lang="en-US" sz="1600" dirty="0"/>
              <a:t> after entering all withdrawal details, allowing the user to review and validate the information—including the </a:t>
            </a:r>
            <a:r>
              <a:rPr lang="en-US" sz="1600" b="1" dirty="0"/>
              <a:t>cash-out fee</a:t>
            </a:r>
            <a:r>
              <a:rPr lang="en-US" sz="1600" dirty="0"/>
              <a:t>—before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338094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675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Denzil O. Acay</dc:creator>
  <cp:lastModifiedBy>Denzil O. Acay</cp:lastModifiedBy>
  <cp:revision>4</cp:revision>
  <dcterms:created xsi:type="dcterms:W3CDTF">2026-01-05T11:56:59Z</dcterms:created>
  <dcterms:modified xsi:type="dcterms:W3CDTF">2026-01-05T13:30:43Z</dcterms:modified>
</cp:coreProperties>
</file>